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media/image22.svg" ContentType="image/svg"/>
  <Override PartName="/ppt/media/image8.svg" ContentType="image/svg"/>
  <Override PartName="/ppt/media/image6.svg" ContentType="image/svg"/>
  <Override PartName="/ppt/media/image17.svg" ContentType="image/svg"/>
  <Override PartName="/ppt/media/image10.svg" ContentType="image/svg"/>
  <Override PartName="/ppt/media/image19.svg" ContentType="image/svg"/>
  <Override PartName="/ppt/media/image15.svg" ContentType="image/svg"/>
  <Override PartName="/ppt/media/image24.svg" ContentType="image/svg"/>
  <Override PartName="/ppt/media/image26.svg" ContentType="image/svg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embeddedFontLst>
    <p:embeddedFont>
      <p:font typeface="+mn-lt"/>
    </p:embeddedFont>
    <p:embeddedFont>
      <p:font typeface="Bricolage Grotesque SemiBold"/>
    </p:embeddedFont>
    <p:embeddedFont>
      <p:font typeface="Consolas"/>
      <p:regular r:id="rId16"/>
    </p:embeddedFont>
    <p:embeddedFont>
      <p:font typeface="Noto Color Emoji"/>
    </p:embeddedFont>
    <p:embeddedFont>
      <p:font typeface="Inter"/>
      <p:regular r:id="rId17"/>
      <p:bold r:id="rId17"/>
    </p:embeddedFont>
    <p:embeddedFont>
      <p:font typeface="Inter Bold"/>
    </p:embeddedFont>
    <p:embeddedFont>
      <p:font typeface="+mn-ea"/>
    </p:embeddedFont>
    <p:embeddedFont>
      <p:font typeface="Lucida Sans"/>
      <p:regular r:id="rId18"/>
    </p:embeddedFont>
    <p:embeddedFont>
      <p:font typeface="+mn-c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font" Target="fonts/Font_1_Consolas_Regular.fntdata"/><Relationship Id="rId17" Type="http://schemas.openxmlformats.org/officeDocument/2006/relationships/font" Target="fonts/Font_2_Inter_Regular.fntdata"/><Relationship Id="rId18" Type="http://schemas.openxmlformats.org/officeDocument/2006/relationships/font" Target="fonts/Font_3_Lucida_Sans_Regular.fntdata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D96CB9B-3F36-48C6-A148-9487102992EC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83A94B-F6F4-46E1-93A3-7731635E68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9C06DA-9730-4FB4-84FD-2573C88DD59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848213-38C3-4954-AF6D-AACF14A109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39FBB5-A5F0-49D4-96F1-4C6C1E3CE8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CB2229-779D-4E3C-92D2-3BA75F5BB8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EFB7DD-608B-457A-A961-E04D5C31F88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644592-0E5C-4433-B0EE-507D3CB779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2A6F97-6A3D-47EF-A3DF-1EEF820FAB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61D251-7F01-4449-AECD-516DC2D83B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F0C62B-7A9F-4A99-8530-A7D8224974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3731F9-F40D-423A-BC5A-6EF7A34FCD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9A52EE-E9DF-4F0A-BBBF-CEAC4C3D049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image" Target="../media/image9.png"/><Relationship Id="rId6" Type="http://schemas.openxmlformats.org/officeDocument/2006/relationships/image" Target="../media/image10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14.png"/><Relationship Id="rId3" Type="http://schemas.openxmlformats.org/officeDocument/2006/relationships/image" Target="../media/image15.svg"/><Relationship Id="rId4" Type="http://schemas.openxmlformats.org/officeDocument/2006/relationships/image" Target="../media/image16.png"/><Relationship Id="rId5" Type="http://schemas.openxmlformats.org/officeDocument/2006/relationships/image" Target="../media/image17.svg"/><Relationship Id="rId6" Type="http://schemas.openxmlformats.org/officeDocument/2006/relationships/image" Target="../media/image18.png"/><Relationship Id="rId7" Type="http://schemas.openxmlformats.org/officeDocument/2006/relationships/image" Target="../media/image19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svg"/><Relationship Id="rId3" Type="http://schemas.openxmlformats.org/officeDocument/2006/relationships/image" Target="../media/image23.png"/><Relationship Id="rId4" Type="http://schemas.openxmlformats.org/officeDocument/2006/relationships/image" Target="../media/image24.svg"/><Relationship Id="rId5" Type="http://schemas.openxmlformats.org/officeDocument/2006/relationships/image" Target="../media/image25.png"/><Relationship Id="rId6" Type="http://schemas.openxmlformats.org/officeDocument/2006/relationships/image" Target="../media/image26.svg"/><Relationship Id="rId7" Type="http://schemas.openxmlformats.org/officeDocument/2006/relationships/image" Target="../media/image2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mage 0"/>
          <p:cNvSpPr/>
          <p:nvPr/>
        </p:nvSpPr>
        <p:spPr>
          <a:xfrm>
            <a:off x="0" y="0"/>
            <a:ext cx="4800240" cy="6857640"/>
          </a:xfrm>
          <a:custGeom>
            <a:avLst/>
            <a:gdLst>
              <a:gd name="textAreaLeft" fmla="*/ 0 w 4800240"/>
              <a:gd name="textAreaRight" fmla="*/ 36000000 w 4800240"/>
              <a:gd name="textAreaTop" fmla="*/ 0 h 6857640"/>
              <a:gd name="textAreaBottom" fmla="*/ 36000000 h 6857640"/>
            </a:gdLst>
            <a:ahLst/>
            <a:cxnLst/>
            <a:rect l="textAreaLeft" t="textAreaTop" r="textAreaRight" b="textAreaBottom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0"/>
          <p:cNvSpPr/>
          <p:nvPr/>
        </p:nvSpPr>
        <p:spPr>
          <a:xfrm>
            <a:off x="5233320" y="1856880"/>
            <a:ext cx="6296400" cy="177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70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Painel Administrativo: CRUD com PDO e PostgreSQL</a:t>
            </a:r>
            <a:endParaRPr lang="pt-BR" sz="3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1"/>
          <p:cNvSpPr/>
          <p:nvPr/>
        </p:nvSpPr>
        <p:spPr>
          <a:xfrm>
            <a:off x="5233320" y="3904200"/>
            <a:ext cx="629640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Aula 10 — Projeto de Extensão IV · Portal de Comunicação SI · ESUCRI 2026/2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2"/>
          <p:cNvSpPr/>
          <p:nvPr/>
        </p:nvSpPr>
        <p:spPr>
          <a:xfrm>
            <a:off x="5233320" y="4721760"/>
            <a:ext cx="3288240" cy="286920"/>
          </a:xfrm>
          <a:prstGeom prst="roundRect">
            <a:avLst>
              <a:gd name="adj" fmla="val 22118"/>
            </a:avLst>
          </a:prstGeom>
          <a:solidFill>
            <a:srgbClr val="F8EC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3"/>
          <p:cNvSpPr/>
          <p:nvPr/>
        </p:nvSpPr>
        <p:spPr>
          <a:xfrm>
            <a:off x="5346720" y="4782960"/>
            <a:ext cx="36709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6º PERÍODO · SISTEMAS DE INFORMAÇÃO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661320" y="1080000"/>
            <a:ext cx="1086840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70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O que veremos hoje</a:t>
            </a:r>
            <a:endParaRPr lang="pt-BR" sz="3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661320" y="2040480"/>
            <a:ext cx="37764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01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2"/>
          <p:cNvSpPr/>
          <p:nvPr/>
        </p:nvSpPr>
        <p:spPr>
          <a:xfrm>
            <a:off x="661320" y="2336400"/>
            <a:ext cx="5339520" cy="25200"/>
          </a:xfrm>
          <a:prstGeom prst="rect">
            <a:avLst/>
          </a:prstGeom>
          <a:solidFill>
            <a:srgbClr val="DA9B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3"/>
          <p:cNvSpPr/>
          <p:nvPr/>
        </p:nvSpPr>
        <p:spPr>
          <a:xfrm>
            <a:off x="661320" y="2481840"/>
            <a:ext cx="53395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Arquitetura do Painel</a:t>
            </a:r>
            <a:endParaRPr lang="pt-BR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661320" y="2890440"/>
            <a:ext cx="53395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Estrutura MVC simplificada com PHP puro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6190200" y="2040480"/>
            <a:ext cx="37764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02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6"/>
          <p:cNvSpPr/>
          <p:nvPr/>
        </p:nvSpPr>
        <p:spPr>
          <a:xfrm>
            <a:off x="6190200" y="2336400"/>
            <a:ext cx="5339520" cy="25200"/>
          </a:xfrm>
          <a:prstGeom prst="rect">
            <a:avLst/>
          </a:prstGeom>
          <a:solidFill>
            <a:srgbClr val="DA9B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7"/>
          <p:cNvSpPr/>
          <p:nvPr/>
        </p:nvSpPr>
        <p:spPr>
          <a:xfrm>
            <a:off x="6190200" y="2481840"/>
            <a:ext cx="53395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Conexão PDO + PostgreSQL</a:t>
            </a:r>
            <a:endParaRPr lang="pt-BR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8"/>
          <p:cNvSpPr/>
          <p:nvPr/>
        </p:nvSpPr>
        <p:spPr>
          <a:xfrm>
            <a:off x="6190200" y="2890440"/>
            <a:ext cx="53395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Configuração segura e reutilizável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9"/>
          <p:cNvSpPr/>
          <p:nvPr/>
        </p:nvSpPr>
        <p:spPr>
          <a:xfrm>
            <a:off x="661320" y="3523680"/>
            <a:ext cx="37764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03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0"/>
          <p:cNvSpPr/>
          <p:nvPr/>
        </p:nvSpPr>
        <p:spPr>
          <a:xfrm>
            <a:off x="661320" y="3800520"/>
            <a:ext cx="5339520" cy="25200"/>
          </a:xfrm>
          <a:prstGeom prst="rect">
            <a:avLst/>
          </a:prstGeom>
          <a:solidFill>
            <a:srgbClr val="DA9B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661320" y="3964680"/>
            <a:ext cx="53395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CRUD Completo</a:t>
            </a:r>
            <a:endParaRPr lang="pt-BR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661320" y="4373280"/>
            <a:ext cx="53395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Create, Read, Update e Delete na prática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6190200" y="3523680"/>
            <a:ext cx="37764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04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4"/>
          <p:cNvSpPr/>
          <p:nvPr/>
        </p:nvSpPr>
        <p:spPr>
          <a:xfrm>
            <a:off x="6190200" y="3800520"/>
            <a:ext cx="5339520" cy="25200"/>
          </a:xfrm>
          <a:prstGeom prst="rect">
            <a:avLst/>
          </a:prstGeom>
          <a:solidFill>
            <a:srgbClr val="DA9B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5"/>
          <p:cNvSpPr/>
          <p:nvPr/>
        </p:nvSpPr>
        <p:spPr>
          <a:xfrm>
            <a:off x="6190200" y="3964680"/>
            <a:ext cx="53395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Segurança e Boas Práticas</a:t>
            </a:r>
            <a:endParaRPr lang="pt-BR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6190200" y="4373280"/>
            <a:ext cx="53395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Prepared statements e validação de dados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7"/>
          <p:cNvSpPr/>
          <p:nvPr/>
        </p:nvSpPr>
        <p:spPr>
          <a:xfrm>
            <a:off x="661320" y="4992120"/>
            <a:ext cx="10868400" cy="755640"/>
          </a:xfrm>
          <a:prstGeom prst="roundRect">
            <a:avLst>
              <a:gd name="adj" fmla="val 10502"/>
            </a:avLst>
          </a:prstGeom>
          <a:solidFill>
            <a:srgbClr val="F8EC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" name="Image 0" descr="preencoded.png"/>
          <p:cNvPicPr/>
          <p:nvPr/>
        </p:nvPicPr>
        <p:blipFill>
          <a:blip r:embed="rId1"/>
          <a:stretch/>
        </p:blipFill>
        <p:spPr>
          <a:xfrm>
            <a:off x="850320" y="5259960"/>
            <a:ext cx="235800" cy="18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Text 18"/>
          <p:cNvSpPr/>
          <p:nvPr/>
        </p:nvSpPr>
        <p:spPr>
          <a:xfrm>
            <a:off x="1275840" y="5266440"/>
            <a:ext cx="106747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Inter"/>
                <a:ea typeface="Inter"/>
              </a:rPr>
              <a:t>Neste projeto usamos </a:t>
            </a:r>
            <a:r>
              <a:rPr lang="en-US" sz="14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somente PHP, HTML, CSS e PostgreSQL</a:t>
            </a: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Inter"/>
                <a:ea typeface="Inter"/>
              </a:rPr>
              <a:t> — sem frameworks externos.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Image 0"/>
          <p:cNvSpPr/>
          <p:nvPr/>
        </p:nvSpPr>
        <p:spPr>
          <a:xfrm>
            <a:off x="0" y="0"/>
            <a:ext cx="4800240" cy="6857640"/>
          </a:xfrm>
          <a:custGeom>
            <a:avLst/>
            <a:gdLst>
              <a:gd name="textAreaLeft" fmla="*/ 0 w 4800240"/>
              <a:gd name="textAreaRight" fmla="*/ 36000000 w 4800240"/>
              <a:gd name="textAreaTop" fmla="*/ 0 h 6857640"/>
              <a:gd name="textAreaBottom" fmla="*/ 36000000 h 6857640"/>
            </a:gdLst>
            <a:ahLst/>
            <a:cxnLst/>
            <a:rect l="textAreaLeft" t="textAreaTop" r="textAreaRight" b="textAreaBottom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0"/>
          <p:cNvSpPr/>
          <p:nvPr/>
        </p:nvSpPr>
        <p:spPr>
          <a:xfrm>
            <a:off x="5233320" y="1054440"/>
            <a:ext cx="6296400" cy="11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70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Por que PDO com PostgreSQL?</a:t>
            </a:r>
            <a:endParaRPr lang="pt-BR" sz="3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"/>
          <p:cNvSpPr/>
          <p:nvPr/>
        </p:nvSpPr>
        <p:spPr>
          <a:xfrm>
            <a:off x="5233320" y="2511360"/>
            <a:ext cx="3053520" cy="1706400"/>
          </a:xfrm>
          <a:prstGeom prst="roundRect">
            <a:avLst>
              <a:gd name="adj" fmla="val 4652"/>
            </a:avLst>
          </a:prstGeom>
          <a:solidFill>
            <a:srgbClr val="FFFFFF"/>
          </a:solidFill>
          <a:ln w="6350">
            <a:solidFill>
              <a:srgbClr val="F8E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"/>
          <p:cNvSpPr/>
          <p:nvPr/>
        </p:nvSpPr>
        <p:spPr>
          <a:xfrm>
            <a:off x="5428800" y="2706840"/>
            <a:ext cx="26629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Abstração</a:t>
            </a:r>
            <a:endParaRPr lang="pt-BR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"/>
          <p:cNvSpPr/>
          <p:nvPr/>
        </p:nvSpPr>
        <p:spPr>
          <a:xfrm>
            <a:off x="5428800" y="3115440"/>
            <a:ext cx="2662920" cy="90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PDO permite trocar o banco de dados com mínima alteração de código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4"/>
          <p:cNvSpPr/>
          <p:nvPr/>
        </p:nvSpPr>
        <p:spPr>
          <a:xfrm>
            <a:off x="8476200" y="2511360"/>
            <a:ext cx="3053520" cy="1706400"/>
          </a:xfrm>
          <a:prstGeom prst="roundRect">
            <a:avLst>
              <a:gd name="adj" fmla="val 4652"/>
            </a:avLst>
          </a:prstGeom>
          <a:solidFill>
            <a:srgbClr val="FFFFFF"/>
          </a:solidFill>
          <a:ln w="6350">
            <a:solidFill>
              <a:srgbClr val="F8E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5"/>
          <p:cNvSpPr/>
          <p:nvPr/>
        </p:nvSpPr>
        <p:spPr>
          <a:xfrm>
            <a:off x="8671680" y="2706840"/>
            <a:ext cx="26629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Segurança</a:t>
            </a:r>
            <a:endParaRPr lang="pt-BR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6"/>
          <p:cNvSpPr/>
          <p:nvPr/>
        </p:nvSpPr>
        <p:spPr>
          <a:xfrm>
            <a:off x="8671680" y="3115440"/>
            <a:ext cx="2662920" cy="90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Prepared statements previnem SQL Injection nativamente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7"/>
          <p:cNvSpPr/>
          <p:nvPr/>
        </p:nvSpPr>
        <p:spPr>
          <a:xfrm>
            <a:off x="5233320" y="4407120"/>
            <a:ext cx="6296400" cy="1404000"/>
          </a:xfrm>
          <a:prstGeom prst="roundRect">
            <a:avLst>
              <a:gd name="adj" fmla="val 5653"/>
            </a:avLst>
          </a:prstGeom>
          <a:solidFill>
            <a:srgbClr val="FFFFFF"/>
          </a:solidFill>
          <a:ln w="6350">
            <a:solidFill>
              <a:srgbClr val="F8E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8"/>
          <p:cNvSpPr/>
          <p:nvPr/>
        </p:nvSpPr>
        <p:spPr>
          <a:xfrm>
            <a:off x="5428800" y="4602600"/>
            <a:ext cx="590580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Robustez</a:t>
            </a:r>
            <a:endParaRPr lang="pt-BR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9"/>
          <p:cNvSpPr/>
          <p:nvPr/>
        </p:nvSpPr>
        <p:spPr>
          <a:xfrm>
            <a:off x="5428800" y="5011200"/>
            <a:ext cx="590580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PostgreSQL é o banco relacional open-source mais avançado do mercado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661320" y="570240"/>
            <a:ext cx="10868400" cy="5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50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Conectando ao Banco de Dados</a:t>
            </a:r>
            <a:endParaRPr lang="pt-BR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661320" y="1556640"/>
            <a:ext cx="521424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db.php — Classe de Conexão</a:t>
            </a:r>
            <a:endParaRPr lang="pt-BR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"/>
          <p:cNvSpPr/>
          <p:nvPr/>
        </p:nvSpPr>
        <p:spPr>
          <a:xfrm>
            <a:off x="661320" y="2028600"/>
            <a:ext cx="5214240" cy="2665800"/>
          </a:xfrm>
          <a:prstGeom prst="roundRect">
            <a:avLst>
              <a:gd name="adj" fmla="val 2838"/>
            </a:avLst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"/>
          <p:cNvSpPr/>
          <p:nvPr/>
        </p:nvSpPr>
        <p:spPr>
          <a:xfrm>
            <a:off x="877680" y="2208960"/>
            <a:ext cx="4782240" cy="23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292E"/>
                </a:solidFill>
                <a:effectLst/>
                <a:uFillTx/>
                <a:latin typeface="Consolas"/>
                <a:ea typeface="Consolas"/>
              </a:rPr>
              <a:t>         PDO::ERRMODE_EXCEPTION]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292E"/>
                </a:solidFill>
                <a:effectLst/>
                <a:uFillTx/>
                <a:latin typeface="Consolas"/>
                <a:ea typeface="Consolas"/>
              </a:rPr>
              <a:t>      );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292E"/>
                </a:solidFill>
                <a:effectLst/>
                <a:uFillTx/>
                <a:latin typeface="Consolas"/>
                <a:ea typeface="Consolas"/>
              </a:rPr>
              <a:t>    }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292E"/>
                </a:solidFill>
                <a:effectLst/>
                <a:uFillTx/>
                <a:latin typeface="Consolas"/>
                <a:ea typeface="Consolas"/>
              </a:rPr>
              <a:t>    return self::$pdo;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292E"/>
                </a:solidFill>
                <a:effectLst/>
                <a:uFillTx/>
                <a:latin typeface="Consolas"/>
                <a:ea typeface="Consolas"/>
              </a:rPr>
              <a:t>  }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292E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292E"/>
                </a:solidFill>
                <a:effectLst/>
                <a:uFillTx/>
                <a:latin typeface="Consolas"/>
                <a:ea typeface="Consolas"/>
              </a:rPr>
              <a:t>   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4"/>
          <p:cNvSpPr/>
          <p:nvPr/>
        </p:nvSpPr>
        <p:spPr>
          <a:xfrm>
            <a:off x="6321960" y="1556640"/>
            <a:ext cx="521424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Boas Práticas</a:t>
            </a:r>
            <a:endParaRPr lang="pt-BR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321960" y="2028600"/>
            <a:ext cx="5214240" cy="114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Text 5"/>
          <p:cNvSpPr/>
          <p:nvPr/>
        </p:nvSpPr>
        <p:spPr>
          <a:xfrm>
            <a:off x="6629040" y="2234160"/>
            <a:ext cx="470160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Singleton</a:t>
            </a:r>
            <a:endParaRPr lang="pt-BR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6"/>
          <p:cNvSpPr/>
          <p:nvPr/>
        </p:nvSpPr>
        <p:spPr>
          <a:xfrm>
            <a:off x="6629040" y="2687400"/>
            <a:ext cx="470160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Uma única instância de conexão por requisição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321960" y="3345840"/>
            <a:ext cx="5214240" cy="115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 7"/>
          <p:cNvSpPr/>
          <p:nvPr/>
        </p:nvSpPr>
        <p:spPr>
          <a:xfrm>
            <a:off x="6629040" y="3551400"/>
            <a:ext cx="470160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Variáveis de Ambiente</a:t>
            </a:r>
            <a:endParaRPr lang="pt-BR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8"/>
          <p:cNvSpPr/>
          <p:nvPr/>
        </p:nvSpPr>
        <p:spPr>
          <a:xfrm>
            <a:off x="6629040" y="4004640"/>
            <a:ext cx="47016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Credenciais fora do código, em arquivo </a:t>
            </a:r>
            <a:r>
              <a:rPr lang="en-US" sz="1400" b="0" u="none" strike="noStrike">
                <a:solidFill>
                  <a:srgbClr val="2C2926"/>
                </a:solidFill>
                <a:effectLst/>
                <a:highlight>
                  <a:srgbClr val="F2F2F2"/>
                </a:highlight>
                <a:uFillTx/>
                <a:latin typeface="Consolas"/>
                <a:ea typeface="Consolas"/>
              </a:rPr>
              <a:t>.env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321960" y="4669560"/>
            <a:ext cx="5214240" cy="14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 9"/>
          <p:cNvSpPr/>
          <p:nvPr/>
        </p:nvSpPr>
        <p:spPr>
          <a:xfrm>
            <a:off x="6629040" y="4875120"/>
            <a:ext cx="470160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Tratamento de Erros</a:t>
            </a:r>
            <a:endParaRPr lang="pt-BR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0"/>
          <p:cNvSpPr/>
          <p:nvPr/>
        </p:nvSpPr>
        <p:spPr>
          <a:xfrm>
            <a:off x="6629040" y="5328000"/>
            <a:ext cx="470160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C2926"/>
                </a:solidFill>
                <a:effectLst/>
                <a:highlight>
                  <a:srgbClr val="F2F2F2"/>
                </a:highlight>
                <a:uFillTx/>
                <a:latin typeface="Consolas"/>
                <a:ea typeface="Consolas"/>
              </a:rPr>
              <a:t>ERRMODE_EXCEPTION</a:t>
            </a:r>
            <a:r>
              <a:rPr lang="en-US" sz="140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 para capturar falhas de forma elegante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661320" y="533520"/>
            <a:ext cx="1086840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10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Estrutura do Painel Administrativo</a:t>
            </a:r>
            <a:endParaRPr lang="pt-B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Image 0" descr="preencoded.png"/>
          <p:cNvPicPr/>
          <p:nvPr/>
        </p:nvPicPr>
        <p:blipFill>
          <a:blip r:embed="rId1"/>
          <a:stretch/>
        </p:blipFill>
        <p:spPr>
          <a:xfrm>
            <a:off x="706320" y="1295280"/>
            <a:ext cx="10778760" cy="464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Text 1"/>
          <p:cNvSpPr/>
          <p:nvPr/>
        </p:nvSpPr>
        <p:spPr>
          <a:xfrm>
            <a:off x="1431720" y="5061960"/>
            <a:ext cx="244512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Bricolage Grotesque SemiBold"/>
                <a:ea typeface="Bricolage Grotesque SemiBold"/>
              </a:rPr>
              <a:t>View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"/>
          <p:cNvSpPr/>
          <p:nvPr/>
        </p:nvSpPr>
        <p:spPr>
          <a:xfrm>
            <a:off x="1431720" y="3986280"/>
            <a:ext cx="244512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Bricolage Grotesque SemiBold"/>
                <a:ea typeface="Bricolage Grotesque SemiBold"/>
              </a:rPr>
              <a:t>Model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1431720" y="2921040"/>
            <a:ext cx="244512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Bricolage Grotesque SemiBold"/>
                <a:ea typeface="Bricolage Grotesque SemiBold"/>
              </a:rPr>
              <a:t>Controller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1431720" y="1845000"/>
            <a:ext cx="244512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Bricolage Grotesque SemiBold"/>
                <a:ea typeface="Bricolage Grotesque SemiBold"/>
              </a:rPr>
              <a:t>index.php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661320" y="6094800"/>
            <a:ext cx="1147788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Separação de responsabilidades sem frameworks: cada arquivo PHP tem um papel claro dentro do fluxo da aplicação.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661320" y="555120"/>
            <a:ext cx="108684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25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READ — Listando Registros</a:t>
            </a:r>
            <a:endParaRPr lang="pt-BR" sz="3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661320" y="1428480"/>
            <a:ext cx="52322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Model: buscar todos os usuários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"/>
          <p:cNvSpPr/>
          <p:nvPr/>
        </p:nvSpPr>
        <p:spPr>
          <a:xfrm>
            <a:off x="661320" y="1847520"/>
            <a:ext cx="5232240" cy="3505680"/>
          </a:xfrm>
          <a:prstGeom prst="roundRect">
            <a:avLst>
              <a:gd name="adj" fmla="val 1981"/>
            </a:avLst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860040" y="2012760"/>
            <a:ext cx="4835520" cy="31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function getAllUsers(): array {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$pdo = Database::connect();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$stmt = $pdo-&gt;query(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  "SELECT id, nome, email,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   perfil FROM usuarios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   ORDER BY nome ASC"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);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return $stmt-&gt;fetchAll(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  PDO::FETCH_ASSOC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);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  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6303960" y="1428480"/>
            <a:ext cx="52322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View: tabela HTML dinâmica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5"/>
          <p:cNvSpPr/>
          <p:nvPr/>
        </p:nvSpPr>
        <p:spPr>
          <a:xfrm>
            <a:off x="6303960" y="1847520"/>
            <a:ext cx="5232240" cy="4299480"/>
          </a:xfrm>
          <a:prstGeom prst="roundRect">
            <a:avLst>
              <a:gd name="adj" fmla="val 1616"/>
            </a:avLst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6502320" y="2012760"/>
            <a:ext cx="4835520" cy="39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4292E"/>
                </a:solidFill>
                <a:effectLst/>
                <a:uFillTx/>
                <a:latin typeface="Consolas"/>
                <a:ea typeface="Consolas"/>
              </a:rPr>
              <a:t>&lt;table&gt;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4292E"/>
                </a:solidFill>
                <a:effectLst/>
                <a:uFillTx/>
                <a:latin typeface="Consolas"/>
                <a:ea typeface="Consolas"/>
              </a:rPr>
              <a:t>&lt;?php foreach($users as $u): ?&gt;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4292E"/>
                </a:solidFill>
                <a:effectLst/>
                <a:uFillTx/>
                <a:latin typeface="Consolas"/>
                <a:ea typeface="Consolas"/>
              </a:rPr>
              <a:t>  &lt;tr&gt;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4292E"/>
                </a:solidFill>
                <a:effectLst/>
                <a:uFillTx/>
                <a:latin typeface="Consolas"/>
                <a:ea typeface="Consolas"/>
              </a:rPr>
              <a:t>    &lt;td&gt;&lt;?= $u['nome'] ?&gt;&lt;/td&gt;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4292E"/>
                </a:solidFill>
                <a:effectLst/>
                <a:uFillTx/>
                <a:latin typeface="Consolas"/>
                <a:ea typeface="Consolas"/>
              </a:rPr>
              <a:t>    &lt;td&gt;&lt;?= $u['email'] ?&gt;&lt;/td&gt;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4292E"/>
                </a:solidFill>
                <a:effectLst/>
                <a:uFillTx/>
                <a:latin typeface="Consolas"/>
                <a:ea typeface="Consolas"/>
              </a:rPr>
              <a:t>    &lt;td&gt;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4292E"/>
                </a:solidFill>
                <a:effectLst/>
                <a:uFillTx/>
                <a:latin typeface="Consolas"/>
                <a:ea typeface="Consolas"/>
              </a:rPr>
              <a:t>      &lt;a href="edit.php?id=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4292E"/>
                </a:solidFill>
                <a:effectLst/>
                <a:uFillTx/>
                <a:latin typeface="Consolas"/>
                <a:ea typeface="Consolas"/>
              </a:rPr>
              <a:t>        &lt;?= $u['id'] ?&gt;"&gt;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4292E"/>
                </a:solidFill>
                <a:effectLst/>
                <a:uFillTx/>
                <a:latin typeface="Consolas"/>
                <a:ea typeface="Consolas"/>
              </a:rPr>
              <a:t>        Editar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4292E"/>
                </a:solidFill>
                <a:effectLst/>
                <a:uFillTx/>
                <a:latin typeface="Consolas"/>
                <a:ea typeface="Consolas"/>
              </a:rPr>
              <a:t>      &lt;/a&gt;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4292E"/>
                </a:solidFill>
                <a:effectLst/>
                <a:uFillTx/>
                <a:latin typeface="Consolas"/>
                <a:ea typeface="Consolas"/>
              </a:rPr>
              <a:t>    &lt;/td&gt;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4292E"/>
                </a:solidFill>
                <a:effectLst/>
                <a:uFillTx/>
                <a:latin typeface="Consolas"/>
                <a:ea typeface="Consolas"/>
              </a:rPr>
              <a:t>  &lt;/tr&gt;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4292E"/>
                </a:solidFill>
                <a:effectLst/>
                <a:uFillTx/>
                <a:latin typeface="Consolas"/>
                <a:ea typeface="Consolas"/>
              </a:rPr>
              <a:t>&lt;?php endforeach; ?&gt;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4292E"/>
                </a:solidFill>
                <a:effectLst/>
                <a:uFillTx/>
                <a:latin typeface="Consolas"/>
                <a:ea typeface="Consolas"/>
              </a:rPr>
              <a:t>&lt;/table&gt;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4292E"/>
                </a:solidFill>
                <a:effectLst/>
                <a:uFillTx/>
                <a:latin typeface="Consolas"/>
                <a:ea typeface="Consolas"/>
              </a:rPr>
              <a:t>    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0"/>
          <p:cNvSpPr/>
          <p:nvPr/>
        </p:nvSpPr>
        <p:spPr>
          <a:xfrm>
            <a:off x="661320" y="572040"/>
            <a:ext cx="1086840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CREATE — Inserindo Dados com Segurança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"/>
          <p:cNvSpPr/>
          <p:nvPr/>
        </p:nvSpPr>
        <p:spPr>
          <a:xfrm>
            <a:off x="661320" y="1177920"/>
            <a:ext cx="52790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Prepared Statement no INSERT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2"/>
          <p:cNvSpPr/>
          <p:nvPr/>
        </p:nvSpPr>
        <p:spPr>
          <a:xfrm>
            <a:off x="661320" y="1470960"/>
            <a:ext cx="3838680" cy="4723920"/>
          </a:xfrm>
          <a:prstGeom prst="roundRect">
            <a:avLst>
              <a:gd name="adj" fmla="val 1129"/>
            </a:avLst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3"/>
          <p:cNvSpPr/>
          <p:nvPr/>
        </p:nvSpPr>
        <p:spPr>
          <a:xfrm>
            <a:off x="813960" y="1598040"/>
            <a:ext cx="4974480" cy="447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function createUser(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string $nome,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string $email,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string $senha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): bool {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$pdo = Database::connect();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$hash = password_hash(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  $senha, PASSWORD_BCRYPT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);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$stmt = $pdo-&gt;prepare(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  "INSERT INTO usuarios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   (nome, email, senha)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   VALUES (:nome, :email,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           :senha)"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);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return $stmt-&gt;execute([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  ':nome'  =&gt; $nome,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  ':email' =&gt; $email,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  ':senha' =&gt; $hash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]);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  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4"/>
          <p:cNvSpPr/>
          <p:nvPr/>
        </p:nvSpPr>
        <p:spPr>
          <a:xfrm>
            <a:off x="6257160" y="1177920"/>
            <a:ext cx="52790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Por que Prepared Statements?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5"/>
          <p:cNvSpPr/>
          <p:nvPr/>
        </p:nvSpPr>
        <p:spPr>
          <a:xfrm>
            <a:off x="6628320" y="1514880"/>
            <a:ext cx="22150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Previnem SQL Injection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6"/>
          <p:cNvSpPr/>
          <p:nvPr/>
        </p:nvSpPr>
        <p:spPr>
          <a:xfrm>
            <a:off x="6628320" y="1798560"/>
            <a:ext cx="3271680" cy="72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1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Os parâmetros nunca são concatenados diretamente na query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7"/>
          <p:cNvSpPr/>
          <p:nvPr/>
        </p:nvSpPr>
        <p:spPr>
          <a:xfrm>
            <a:off x="6604920" y="2520000"/>
            <a:ext cx="22150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Senhas com BCRYPT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8"/>
          <p:cNvSpPr/>
          <p:nvPr/>
        </p:nvSpPr>
        <p:spPr>
          <a:xfrm>
            <a:off x="6604920" y="2803680"/>
            <a:ext cx="3295080" cy="79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1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C2926"/>
                </a:solidFill>
                <a:effectLst/>
                <a:highlight>
                  <a:srgbClr val="F2F2F2"/>
                </a:highlight>
                <a:uFillTx/>
                <a:latin typeface="Consolas"/>
                <a:ea typeface="Consolas"/>
              </a:rPr>
              <a:t>password_hash()</a:t>
            </a:r>
            <a:r>
              <a:rPr lang="en-US" sz="150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 garante armazenamento seguro no banco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9"/>
          <p:cNvSpPr/>
          <p:nvPr/>
        </p:nvSpPr>
        <p:spPr>
          <a:xfrm>
            <a:off x="5171760" y="3600000"/>
            <a:ext cx="49082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Reusabilidade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0"/>
          <p:cNvSpPr/>
          <p:nvPr/>
        </p:nvSpPr>
        <p:spPr>
          <a:xfrm>
            <a:off x="5171760" y="3883680"/>
            <a:ext cx="4908240" cy="61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11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O mesmo statement 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1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pode ser executado múltiplas vezes com eficiência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661320" y="554760"/>
            <a:ext cx="1086840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275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UPDATE e DELETE — Editando e Removendo</a:t>
            </a:r>
            <a:endParaRPr lang="pt-BR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661320" y="1258200"/>
            <a:ext cx="526104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UPDATE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661320" y="1597680"/>
            <a:ext cx="5261040" cy="4592520"/>
          </a:xfrm>
          <a:prstGeom prst="roundRect">
            <a:avLst>
              <a:gd name="adj" fmla="val 1296"/>
            </a:avLst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831600" y="1739160"/>
            <a:ext cx="4920840" cy="430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function updateUser(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int $id,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string $nome,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string $perfil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): bool {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$pdo = Database::connect();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$stmt = $pdo-&gt;prepare(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  "UPDATE usuarios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   SET nome = :nome,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       perfil = :perfil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   WHERE id = :id"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);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return $stmt-&gt;execute([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  ':nome'   =&gt; $nome,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  ':perfil' =&gt; $perfil,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  ':id'     =&gt; $id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]);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  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4"/>
          <p:cNvSpPr/>
          <p:nvPr/>
        </p:nvSpPr>
        <p:spPr>
          <a:xfrm>
            <a:off x="6275160" y="1258200"/>
            <a:ext cx="526104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DELETE com confirmação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5"/>
          <p:cNvSpPr/>
          <p:nvPr/>
        </p:nvSpPr>
        <p:spPr>
          <a:xfrm>
            <a:off x="6275160" y="1597680"/>
            <a:ext cx="5261040" cy="3231720"/>
          </a:xfrm>
          <a:prstGeom prst="roundRect">
            <a:avLst>
              <a:gd name="adj" fmla="val 1842"/>
            </a:avLst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6"/>
          <p:cNvSpPr/>
          <p:nvPr/>
        </p:nvSpPr>
        <p:spPr>
          <a:xfrm>
            <a:off x="6445080" y="1739160"/>
            <a:ext cx="4920840" cy="29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function deleteUser(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int $id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): bool {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$pdo = Database::connect();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$stmt = $pdo-&gt;prepare(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  "DELETE FROM usuarios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   WHERE id = :id"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);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return $stmt-&gt;execute(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  [':id' =&gt; $id]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);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3A49"/>
                </a:solidFill>
                <a:effectLst/>
                <a:uFillTx/>
                <a:latin typeface="Consolas"/>
                <a:ea typeface="Consolas"/>
              </a:rPr>
              <a:t>    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7"/>
          <p:cNvSpPr/>
          <p:nvPr/>
        </p:nvSpPr>
        <p:spPr>
          <a:xfrm>
            <a:off x="6275160" y="4949280"/>
            <a:ext cx="5261040" cy="1170720"/>
          </a:xfrm>
          <a:prstGeom prst="roundRect">
            <a:avLst>
              <a:gd name="adj" fmla="val 9035"/>
            </a:avLst>
          </a:prstGeom>
          <a:solidFill>
            <a:srgbClr val="FCF2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Image 0" descr="preencoded.png"/>
          <p:cNvPicPr/>
          <p:nvPr/>
        </p:nvPicPr>
        <p:blipFill>
          <a:blip r:embed="rId1"/>
          <a:stretch/>
        </p:blipFill>
        <p:spPr>
          <a:xfrm>
            <a:off x="6416640" y="5119200"/>
            <a:ext cx="176760" cy="14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 8"/>
          <p:cNvSpPr/>
          <p:nvPr/>
        </p:nvSpPr>
        <p:spPr>
          <a:xfrm>
            <a:off x="6735600" y="5084640"/>
            <a:ext cx="4658760" cy="85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Inter"/>
                <a:ea typeface="Inter"/>
              </a:rPr>
              <a:t>Sempre confirme a ação antes de executar um DELETE. Considere usar </a:t>
            </a: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soft delete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Inter"/>
                <a:ea typeface="Inter"/>
              </a:rPr>
              <a:t> com coluna </a:t>
            </a:r>
            <a:r>
              <a:rPr lang="en-US" sz="1400" b="0" u="none" strike="noStrike">
                <a:solidFill>
                  <a:srgbClr val="000000"/>
                </a:solidFill>
                <a:effectLst/>
                <a:highlight>
                  <a:srgbClr val="F2F2F2"/>
                </a:highlight>
                <a:uFillTx/>
                <a:latin typeface="Consolas"/>
                <a:ea typeface="Consolas"/>
              </a:rPr>
              <a:t>ativo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Inter"/>
                <a:ea typeface="Inter"/>
              </a:rPr>
              <a:t>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Image 0"/>
          <p:cNvSpPr/>
          <p:nvPr/>
        </p:nvSpPr>
        <p:spPr>
          <a:xfrm>
            <a:off x="0" y="0"/>
            <a:ext cx="4800240" cy="6857640"/>
          </a:xfrm>
          <a:custGeom>
            <a:avLst/>
            <a:gdLst>
              <a:gd name="textAreaLeft" fmla="*/ 0 w 4800240"/>
              <a:gd name="textAreaRight" fmla="*/ 36000000 w 4800240"/>
              <a:gd name="textAreaTop" fmla="*/ 0 h 6857640"/>
              <a:gd name="textAreaBottom" fmla="*/ 36000000 h 6857640"/>
            </a:gdLst>
            <a:ahLst/>
            <a:cxnLst/>
            <a:rect l="textAreaLeft" t="textAreaTop" r="textAreaRight" b="textAreaBottom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0"/>
          <p:cNvSpPr/>
          <p:nvPr/>
        </p:nvSpPr>
        <p:spPr>
          <a:xfrm>
            <a:off x="5233320" y="702360"/>
            <a:ext cx="6296400" cy="11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70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Interface do Painel Administrativo</a:t>
            </a:r>
            <a:endParaRPr lang="pt-BR" sz="3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233320" y="2159280"/>
            <a:ext cx="377640" cy="37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 1"/>
          <p:cNvSpPr/>
          <p:nvPr/>
        </p:nvSpPr>
        <p:spPr>
          <a:xfrm>
            <a:off x="5847480" y="2224440"/>
            <a:ext cx="568224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Listagem de Registros</a:t>
            </a:r>
            <a:endParaRPr lang="pt-BR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"/>
          <p:cNvSpPr/>
          <p:nvPr/>
        </p:nvSpPr>
        <p:spPr>
          <a:xfrm>
            <a:off x="5847480" y="2633040"/>
            <a:ext cx="5682240" cy="6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Tabela HTML gerada dinamicamente a partir do banco, com paginação simples via </a:t>
            </a:r>
            <a:r>
              <a:rPr lang="en-US" sz="1450" b="0" u="none" strike="noStrike">
                <a:solidFill>
                  <a:srgbClr val="2C2926"/>
                </a:solidFill>
                <a:effectLst/>
                <a:highlight>
                  <a:srgbClr val="F2F2F2"/>
                </a:highlight>
                <a:uFillTx/>
                <a:latin typeface="Consolas"/>
                <a:ea typeface="Consolas"/>
              </a:rPr>
              <a:t>LIMIT</a:t>
            </a:r>
            <a:r>
              <a:rPr lang="en-US" sz="145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 e </a:t>
            </a:r>
            <a:r>
              <a:rPr lang="en-US" sz="1450" b="0" u="none" strike="noStrike">
                <a:solidFill>
                  <a:srgbClr val="2C2926"/>
                </a:solidFill>
                <a:effectLst/>
                <a:highlight>
                  <a:srgbClr val="F2F2F2"/>
                </a:highlight>
                <a:uFillTx/>
                <a:latin typeface="Consolas"/>
                <a:ea typeface="Consolas"/>
              </a:rPr>
              <a:t>OFFSET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233320" y="3622320"/>
            <a:ext cx="377640" cy="37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 3"/>
          <p:cNvSpPr/>
          <p:nvPr/>
        </p:nvSpPr>
        <p:spPr>
          <a:xfrm>
            <a:off x="5847480" y="3687120"/>
            <a:ext cx="568224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Formulários de Edição</a:t>
            </a:r>
            <a:endParaRPr lang="pt-BR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4"/>
          <p:cNvSpPr/>
          <p:nvPr/>
        </p:nvSpPr>
        <p:spPr>
          <a:xfrm>
            <a:off x="5847480" y="4095720"/>
            <a:ext cx="5682240" cy="6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Campos pré-preenchidos via GET </a:t>
            </a:r>
            <a:r>
              <a:rPr lang="en-US" sz="1450" b="0" u="none" strike="noStrike">
                <a:solidFill>
                  <a:srgbClr val="2C2926"/>
                </a:solidFill>
                <a:effectLst/>
                <a:highlight>
                  <a:srgbClr val="F2F2F2"/>
                </a:highlight>
                <a:uFillTx/>
                <a:latin typeface="Consolas"/>
                <a:ea typeface="Consolas"/>
              </a:rPr>
              <a:t>?id=</a:t>
            </a:r>
            <a:r>
              <a:rPr lang="en-US" sz="145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, enviados por POST para o controller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Image 3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5233320" y="5085000"/>
            <a:ext cx="377640" cy="37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 5"/>
          <p:cNvSpPr/>
          <p:nvPr/>
        </p:nvSpPr>
        <p:spPr>
          <a:xfrm>
            <a:off x="5847480" y="5149800"/>
            <a:ext cx="568224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Controle de Acesso</a:t>
            </a:r>
            <a:endParaRPr lang="pt-BR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6"/>
          <p:cNvSpPr/>
          <p:nvPr/>
        </p:nvSpPr>
        <p:spPr>
          <a:xfrm>
            <a:off x="5847480" y="5558400"/>
            <a:ext cx="568224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Verificação de sessão ativa e perfil de usuário em cada página do painel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0"/>
          <p:cNvSpPr/>
          <p:nvPr/>
        </p:nvSpPr>
        <p:spPr>
          <a:xfrm>
            <a:off x="661320" y="568440"/>
            <a:ext cx="10868400" cy="5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Segurança no Painel: Checklist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 0" descr="preencoded.png"/>
          <p:cNvPicPr/>
          <p:nvPr/>
        </p:nvPicPr>
        <p:blipFill>
          <a:blip r:embed="rId1"/>
          <a:stretch/>
        </p:blipFill>
        <p:spPr>
          <a:xfrm>
            <a:off x="1618920" y="2932560"/>
            <a:ext cx="3295440" cy="183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 1"/>
          <p:cNvSpPr/>
          <p:nvPr/>
        </p:nvSpPr>
        <p:spPr>
          <a:xfrm>
            <a:off x="6325560" y="1579320"/>
            <a:ext cx="521064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Validação de Dados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"/>
          <p:cNvSpPr/>
          <p:nvPr/>
        </p:nvSpPr>
        <p:spPr>
          <a:xfrm>
            <a:off x="6325560" y="2060280"/>
            <a:ext cx="5210640" cy="3295800"/>
          </a:xfrm>
          <a:prstGeom prst="roundRect">
            <a:avLst>
              <a:gd name="adj" fmla="val 2333"/>
            </a:avLst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6545160" y="2243160"/>
            <a:ext cx="4771440" cy="29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5CC5"/>
                </a:solidFill>
                <a:effectLst/>
                <a:uFillTx/>
                <a:latin typeface="Consolas"/>
                <a:ea typeface="Consolas"/>
              </a:rPr>
              <a:t>$email = filter_input(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5CC5"/>
                </a:solidFill>
                <a:effectLst/>
                <a:uFillTx/>
                <a:latin typeface="Consolas"/>
                <a:ea typeface="Consolas"/>
              </a:rPr>
              <a:t>  INPUT_POST,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5CC5"/>
                </a:solidFill>
                <a:effectLst/>
                <a:uFillTx/>
                <a:latin typeface="Consolas"/>
                <a:ea typeface="Consolas"/>
              </a:rPr>
              <a:t>  'email',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5CC5"/>
                </a:solidFill>
                <a:effectLst/>
                <a:uFillTx/>
                <a:latin typeface="Consolas"/>
                <a:ea typeface="Consolas"/>
              </a:rPr>
              <a:t>  FILTER_VALIDATE_EMAIL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5CC5"/>
                </a:solidFill>
                <a:effectLst/>
                <a:uFillTx/>
                <a:latin typeface="Consolas"/>
                <a:ea typeface="Consolas"/>
              </a:rPr>
              <a:t>);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5CC5"/>
                </a:solidFill>
                <a:effectLst/>
                <a:uFillTx/>
                <a:latin typeface="Consolas"/>
                <a:ea typeface="Consolas"/>
              </a:rPr>
              <a:t>if (!$email) {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5CC5"/>
                </a:solidFill>
                <a:effectLst/>
                <a:uFillTx/>
                <a:latin typeface="Consolas"/>
                <a:ea typeface="Consolas"/>
              </a:rPr>
              <a:t>  die("E-mail inválido.");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5CC5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5CC5"/>
                </a:solidFill>
                <a:effectLst/>
                <a:uFillTx/>
                <a:latin typeface="Consolas"/>
                <a:ea typeface="Consolas"/>
              </a:rPr>
              <a:t>   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4"/>
          <p:cNvSpPr/>
          <p:nvPr/>
        </p:nvSpPr>
        <p:spPr>
          <a:xfrm>
            <a:off x="6325560" y="5555880"/>
            <a:ext cx="5210640" cy="92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31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Use </a:t>
            </a:r>
            <a:r>
              <a:rPr lang="en-US" sz="1800" b="0" u="none" strike="noStrike">
                <a:solidFill>
                  <a:srgbClr val="2C2926"/>
                </a:solidFill>
                <a:effectLst/>
                <a:highlight>
                  <a:srgbClr val="F2F2F2"/>
                </a:highlight>
                <a:uFillTx/>
                <a:latin typeface="Consolas"/>
                <a:ea typeface="Consolas"/>
              </a:rPr>
              <a:t>filter_input()</a:t>
            </a:r>
            <a:r>
              <a:rPr lang="en-US" sz="180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 e </a:t>
            </a:r>
            <a:r>
              <a:rPr lang="en-US" sz="1800" b="0" u="none" strike="noStrike">
                <a:solidFill>
                  <a:srgbClr val="2C2926"/>
                </a:solidFill>
                <a:effectLst/>
                <a:highlight>
                  <a:srgbClr val="F2F2F2"/>
                </a:highlight>
                <a:uFillTx/>
                <a:latin typeface="Consolas"/>
                <a:ea typeface="Consolas"/>
              </a:rPr>
              <a:t>htmlspecialchars()</a:t>
            </a:r>
            <a:r>
              <a:rPr lang="en-US" sz="180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 para sanitizar toda entrada do usuário antes de processar ou exibir.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0"/>
          <p:cNvSpPr/>
          <p:nvPr/>
        </p:nvSpPr>
        <p:spPr>
          <a:xfrm>
            <a:off x="661320" y="553680"/>
            <a:ext cx="1086840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40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Stack do Projeto: 100% Sem Frameworks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"/>
          <p:cNvSpPr/>
          <p:nvPr/>
        </p:nvSpPr>
        <p:spPr>
          <a:xfrm>
            <a:off x="661320" y="1412640"/>
            <a:ext cx="5353560" cy="1680480"/>
          </a:xfrm>
          <a:prstGeom prst="roundRect">
            <a:avLst>
              <a:gd name="adj" fmla="val 4354"/>
            </a:avLst>
          </a:prstGeom>
          <a:solidFill>
            <a:srgbClr val="FFFFFF"/>
          </a:solidFill>
          <a:ln w="6350">
            <a:solidFill>
              <a:srgbClr val="F8E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"/>
          <p:cNvSpPr/>
          <p:nvPr/>
        </p:nvSpPr>
        <p:spPr>
          <a:xfrm>
            <a:off x="842040" y="1593000"/>
            <a:ext cx="522360" cy="522360"/>
          </a:xfrm>
          <a:prstGeom prst="ellipse">
            <a:avLst/>
          </a:prstGeom>
          <a:solidFill>
            <a:srgbClr val="DA9B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985680" y="1737000"/>
            <a:ext cx="234720" cy="23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3"/>
          <p:cNvSpPr/>
          <p:nvPr/>
        </p:nvSpPr>
        <p:spPr>
          <a:xfrm>
            <a:off x="842040" y="2276640"/>
            <a:ext cx="49924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PHP 8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842040" y="2548440"/>
            <a:ext cx="4992480" cy="69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Lógica de negócio, roteamento 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e</a:t>
            </a:r>
            <a:r>
              <a:rPr lang="en-US" sz="160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 acesso ao banco via PDO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5"/>
          <p:cNvSpPr/>
          <p:nvPr/>
        </p:nvSpPr>
        <p:spPr>
          <a:xfrm>
            <a:off x="6176160" y="1412640"/>
            <a:ext cx="5353920" cy="1680480"/>
          </a:xfrm>
          <a:prstGeom prst="roundRect">
            <a:avLst>
              <a:gd name="adj" fmla="val 4354"/>
            </a:avLst>
          </a:prstGeom>
          <a:solidFill>
            <a:srgbClr val="FFFFFF"/>
          </a:solidFill>
          <a:ln w="6350">
            <a:solidFill>
              <a:srgbClr val="F8E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6"/>
          <p:cNvSpPr/>
          <p:nvPr/>
        </p:nvSpPr>
        <p:spPr>
          <a:xfrm>
            <a:off x="6356520" y="1593000"/>
            <a:ext cx="522360" cy="522360"/>
          </a:xfrm>
          <a:prstGeom prst="ellipse">
            <a:avLst/>
          </a:prstGeom>
          <a:solidFill>
            <a:srgbClr val="DA9B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500520" y="1737000"/>
            <a:ext cx="234720" cy="23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Text 7"/>
          <p:cNvSpPr/>
          <p:nvPr/>
        </p:nvSpPr>
        <p:spPr>
          <a:xfrm>
            <a:off x="6356520" y="2276640"/>
            <a:ext cx="49924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HTML5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8"/>
          <p:cNvSpPr/>
          <p:nvPr/>
        </p:nvSpPr>
        <p:spPr>
          <a:xfrm>
            <a:off x="6176160" y="2548440"/>
            <a:ext cx="4992480" cy="70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Estrutura semântica das views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e formulários do painel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9"/>
          <p:cNvSpPr/>
          <p:nvPr/>
        </p:nvSpPr>
        <p:spPr>
          <a:xfrm>
            <a:off x="661320" y="3254040"/>
            <a:ext cx="5353560" cy="1948320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6350">
            <a:solidFill>
              <a:srgbClr val="F8E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0"/>
          <p:cNvSpPr/>
          <p:nvPr/>
        </p:nvSpPr>
        <p:spPr>
          <a:xfrm>
            <a:off x="842040" y="3434400"/>
            <a:ext cx="522360" cy="522360"/>
          </a:xfrm>
          <a:prstGeom prst="ellipse">
            <a:avLst/>
          </a:prstGeom>
          <a:solidFill>
            <a:srgbClr val="DA9B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1"/>
          <p:cNvSpPr/>
          <p:nvPr/>
        </p:nvSpPr>
        <p:spPr>
          <a:xfrm>
            <a:off x="842040" y="4118040"/>
            <a:ext cx="49924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CSS3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2"/>
          <p:cNvSpPr/>
          <p:nvPr/>
        </p:nvSpPr>
        <p:spPr>
          <a:xfrm>
            <a:off x="842040" y="4486320"/>
            <a:ext cx="4992480" cy="71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Estilização do painel administrativo com tema escuro customizado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3"/>
          <p:cNvSpPr/>
          <p:nvPr/>
        </p:nvSpPr>
        <p:spPr>
          <a:xfrm>
            <a:off x="6176160" y="3254040"/>
            <a:ext cx="5353920" cy="1948320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6350">
            <a:solidFill>
              <a:srgbClr val="F8E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4"/>
          <p:cNvSpPr/>
          <p:nvPr/>
        </p:nvSpPr>
        <p:spPr>
          <a:xfrm>
            <a:off x="6356520" y="3434400"/>
            <a:ext cx="522360" cy="522360"/>
          </a:xfrm>
          <a:prstGeom prst="ellipse">
            <a:avLst/>
          </a:prstGeom>
          <a:solidFill>
            <a:srgbClr val="DA9B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500520" y="3578400"/>
            <a:ext cx="234720" cy="23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Text 15"/>
          <p:cNvSpPr/>
          <p:nvPr/>
        </p:nvSpPr>
        <p:spPr>
          <a:xfrm>
            <a:off x="6356520" y="4118040"/>
            <a:ext cx="49924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PostgreSQL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6"/>
          <p:cNvSpPr/>
          <p:nvPr/>
        </p:nvSpPr>
        <p:spPr>
          <a:xfrm>
            <a:off x="6356520" y="4486320"/>
            <a:ext cx="4992480" cy="71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Banco de dados relacional robusto para persistência de todas as entidades do portal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7"/>
          <p:cNvSpPr/>
          <p:nvPr/>
        </p:nvSpPr>
        <p:spPr>
          <a:xfrm>
            <a:off x="661320" y="5383080"/>
            <a:ext cx="10868400" cy="1096920"/>
          </a:xfrm>
          <a:prstGeom prst="roundRect">
            <a:avLst>
              <a:gd name="adj" fmla="val 7887"/>
            </a:avLst>
          </a:prstGeom>
          <a:solidFill>
            <a:srgbClr val="F8EC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Image 3" descr="preencoded.png"/>
          <p:cNvPicPr/>
          <p:nvPr/>
        </p:nvPicPr>
        <p:blipFill>
          <a:blip r:embed="rId7"/>
          <a:stretch/>
        </p:blipFill>
        <p:spPr>
          <a:xfrm>
            <a:off x="835560" y="5618880"/>
            <a:ext cx="217440" cy="17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Text 18"/>
          <p:cNvSpPr/>
          <p:nvPr/>
        </p:nvSpPr>
        <p:spPr>
          <a:xfrm>
            <a:off x="1227600" y="5587560"/>
            <a:ext cx="101278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Inter"/>
                <a:ea typeface="Inter"/>
              </a:rPr>
              <a:t>A escolha de trabalhar sem frameworks reforça o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domínio dos fundamentos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Inter"/>
                <a:ea typeface="Inter"/>
              </a:rPr>
              <a:t> — essencial para qualquer desenvolvedor backend sênior.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Image 0"/>
          <p:cNvSpPr/>
          <p:nvPr/>
        </p:nvSpPr>
        <p:spPr>
          <a:xfrm>
            <a:off x="7391160" y="0"/>
            <a:ext cx="4800240" cy="6857640"/>
          </a:xfrm>
          <a:custGeom>
            <a:avLst/>
            <a:gdLst>
              <a:gd name="textAreaLeft" fmla="*/ 0 w 4800240"/>
              <a:gd name="textAreaRight" fmla="*/ 36000000 w 4800240"/>
              <a:gd name="textAreaTop" fmla="*/ 0 h 6857640"/>
              <a:gd name="textAreaBottom" fmla="*/ 36000000 h 6857640"/>
            </a:gdLst>
            <a:ahLst/>
            <a:cxnLst/>
            <a:rect l="textAreaLeft" t="textAreaTop" r="textAreaRight" b="textAreaBottom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0"/>
          <p:cNvSpPr/>
          <p:nvPr/>
        </p:nvSpPr>
        <p:spPr>
          <a:xfrm>
            <a:off x="661320" y="556560"/>
            <a:ext cx="6296400" cy="11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70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Próximos Passos e Atividade Prática</a:t>
            </a:r>
            <a:endParaRPr lang="pt-BR" sz="3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"/>
          <p:cNvSpPr/>
          <p:nvPr/>
        </p:nvSpPr>
        <p:spPr>
          <a:xfrm>
            <a:off x="661320" y="2013480"/>
            <a:ext cx="3053520" cy="2657880"/>
          </a:xfrm>
          <a:prstGeom prst="roundRect">
            <a:avLst>
              <a:gd name="adj" fmla="val 2986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F8E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"/>
          <p:cNvSpPr/>
          <p:nvPr/>
        </p:nvSpPr>
        <p:spPr>
          <a:xfrm>
            <a:off x="875880" y="2227680"/>
            <a:ext cx="26247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000000"/>
                </a:solidFill>
                <a:effectLst/>
                <a:uFillTx/>
                <a:latin typeface="Noto Color Emoji"/>
                <a:ea typeface="Noto Color Emoji"/>
              </a:rPr>
              <a:t>🎯</a:t>
            </a:r>
            <a:r>
              <a:rPr lang="en-US" sz="185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 Tarefa da Aula</a:t>
            </a:r>
            <a:endParaRPr lang="pt-BR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"/>
          <p:cNvSpPr/>
          <p:nvPr/>
        </p:nvSpPr>
        <p:spPr>
          <a:xfrm>
            <a:off x="875880" y="2642760"/>
            <a:ext cx="2624760" cy="18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Implementar o CRUD completo da entidade </a:t>
            </a:r>
            <a:r>
              <a:rPr lang="en-US" sz="1450" b="1" u="none" strike="noStrike">
                <a:solidFill>
                  <a:srgbClr val="2C2926"/>
                </a:solidFill>
                <a:effectLst/>
                <a:uFillTx/>
                <a:latin typeface="Inter Bold"/>
                <a:ea typeface="Inter Bold"/>
              </a:rPr>
              <a:t>Notícias</a:t>
            </a:r>
            <a:r>
              <a:rPr lang="en-US" sz="145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 do Portal de Comunicação SI, com validação de formulário e controle de sessão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4"/>
          <p:cNvSpPr/>
          <p:nvPr/>
        </p:nvSpPr>
        <p:spPr>
          <a:xfrm>
            <a:off x="3904200" y="2013480"/>
            <a:ext cx="3053520" cy="2657880"/>
          </a:xfrm>
          <a:prstGeom prst="roundRect">
            <a:avLst>
              <a:gd name="adj" fmla="val 2986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F8E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5"/>
          <p:cNvSpPr/>
          <p:nvPr/>
        </p:nvSpPr>
        <p:spPr>
          <a:xfrm>
            <a:off x="4118760" y="2227680"/>
            <a:ext cx="26247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000000"/>
                </a:solidFill>
                <a:effectLst/>
                <a:uFillTx/>
                <a:latin typeface="Noto Color Emoji"/>
                <a:ea typeface="Noto Color Emoji"/>
              </a:rPr>
              <a:t>📌</a:t>
            </a:r>
            <a:r>
              <a:rPr lang="en-US" sz="185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 Entrega</a:t>
            </a:r>
            <a:endParaRPr lang="pt-BR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6"/>
          <p:cNvSpPr/>
          <p:nvPr/>
        </p:nvSpPr>
        <p:spPr>
          <a:xfrm>
            <a:off x="4118760" y="2642760"/>
            <a:ext cx="2624760" cy="151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Pull Request no repositório do grupo até a próxima aula. O painel deve listar, criar, editar e excluir notícias com sucesso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7"/>
          <p:cNvSpPr/>
          <p:nvPr/>
        </p:nvSpPr>
        <p:spPr>
          <a:xfrm>
            <a:off x="661320" y="4860720"/>
            <a:ext cx="6296400" cy="1448280"/>
          </a:xfrm>
          <a:prstGeom prst="roundRect">
            <a:avLst>
              <a:gd name="adj" fmla="val 5480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F8E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8"/>
          <p:cNvSpPr/>
          <p:nvPr/>
        </p:nvSpPr>
        <p:spPr>
          <a:xfrm>
            <a:off x="875880" y="5075280"/>
            <a:ext cx="58676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000000"/>
                </a:solidFill>
                <a:effectLst/>
                <a:uFillTx/>
                <a:latin typeface="Noto Color Emoji"/>
                <a:ea typeface="Noto Color Emoji"/>
              </a:rPr>
              <a:t>🔜</a:t>
            </a:r>
            <a:r>
              <a:rPr lang="en-US" sz="1850" b="0" u="none" strike="noStrike">
                <a:solidFill>
                  <a:srgbClr val="2C2926"/>
                </a:solidFill>
                <a:effectLst/>
                <a:uFillTx/>
                <a:latin typeface="Bricolage Grotesque SemiBold"/>
                <a:ea typeface="Bricolage Grotesque SemiBold"/>
              </a:rPr>
              <a:t> Aula 11</a:t>
            </a:r>
            <a:endParaRPr lang="pt-BR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9"/>
          <p:cNvSpPr/>
          <p:nvPr/>
        </p:nvSpPr>
        <p:spPr>
          <a:xfrm>
            <a:off x="875880" y="5490000"/>
            <a:ext cx="586764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C2926"/>
                </a:solidFill>
                <a:effectLst/>
                <a:uFillTx/>
                <a:latin typeface="Inter"/>
                <a:ea typeface="Inter"/>
              </a:rPr>
              <a:t>Upload de imagens com PHP, gestão de arquivos no servidor e integração com o painel administrativo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LibreOffice/26.2.6.3$Windows_X86_64 LibreOffice_project/8221e31b3ac356a1623c672912a3d2b492f7e3d1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2026-10-07T13:09:31Z</dcterms:created>
  <dc:creator/>
  <dc:description/>
  <dc:language>pt-BR</dc:language>
  <cp:lastModifiedBy/>
  <dcterms:modified xsi:type="dcterms:W3CDTF">2026-10-08T16:39:28Z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